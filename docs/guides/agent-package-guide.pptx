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067f0c8e-e946-917a-fd61-e0da49ee235d}">
          <p14:sldIdLst>
            <p14:sldId id="256"/>
            <p14:sldId id="257"/>
          </p14:sldIdLst>
        </p14:section>
        <p14:section name="Set up" id="{02e99c6f-7c7c-0f70-2bf5-12a537fae438}">
          <p14:sldIdLst>
            <p14:sldId id="258"/>
          </p14:sldIdLst>
        </p14:section>
        <p14:section name="The loop" id="{349a615f-bbb6-0f22-fc2a-d56aad0a125e}">
          <p14:sldIdLst>
            <p14:sldId id="259"/>
            <p14:sldId id="260"/>
            <p14:sldId id="261"/>
            <p14:sldId id="262"/>
          </p14:sldIdLst>
        </p14:section>
        <p14:section name="Git" id="{84133963-08b7-e32a-720a-d49371fd5a67}">
          <p14:sldIdLst>
            <p14:sldId id="263"/>
            <p14:sldId id="264"/>
          </p14:sldIdLst>
        </p14:section>
        <p14:section name="Questions" id="{5d63b17f-ed89-5428-88a6-f15d2cb07f2f}">
          <p14:sldIdLst>
            <p14:sldId id="265"/>
            <p14:sldId id="266"/>
          </p14:sldIdLst>
        </p14:section>
        <p14:section name="Summary" id="{a67a81ac-3178-9b12-cc78-b8004035f7fb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guide is for developers who take an itos agent package into a repository and build it with a coding agent such as Claude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Also in the package: AGENTS.md (conventions), CLAUDE.md (idea mode only), .ai/questions.md and .ai/README.md.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the folder is not a git repository yet, the agent asks before running git init. For a new idea project the package also writes AGENTS.md and CLAUDE.md at the root.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step is a slash command: /build-&lt;project&gt; refine 01, task 01 T2, check 01 T2, commit 01 T2. Fresh sessions keep the context small: the agent reads one task and the sections it cites, never all nine documents.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Refine runs once, before a spec's first task. If a task cannot fit the repo without changing what it builds, the agent writes a question in .ai/questions.md and stops.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Done means Verify passed, not that the code looks right. If the conventions file names a different branch workflow, the agent follows that instead of spec/NN-name.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script compares the working tree with HEAD, which is why each task must start clean and end in its own commit. Pass --base &lt;ref&gt; to compare with another commit.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commit procedure checks that the task's Status is done and the check ran, and that the current branch is the spec's. If a hook fails, it fixes the cause within the task's Files or stops and shows you the output.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git log --oneline on a spec branch reads like the spec's task list, and git log --grep 01-T2 finds a ticket's commit later.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.ai/decisions.md records what the owners decided and why. The agent never re-decides those, and never picks an answer to an open question itself.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skill is plain Markdown plus a standard-library Python script, so any agent that can read files and run git can follow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Rules that always hold: only the task, no dependency the spec does not name, stop at a missing decision, trace requirement IDs, done means Verify passed.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80467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43200"/>
            <a:ext cx="804672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accent5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TITLE_ONLY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804672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itos · agent package guide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Building with the itos agent package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432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From approved specs to reviewed commits, one task per session</a:t>
            </a:r>
            <a:endParaRPr lang="en-US" sz="1800" dirty="0"/>
          </a:p>
        </p:txBody>
      </p:sp>
      <p:sp>
        <p:nvSpPr>
          <p:cNvPr id="4" name="package circle"/>
          <p:cNvSpPr/>
          <p:nvPr/>
        </p:nvSpPr>
        <p:spPr>
          <a:xfrm>
            <a:off x="548640" y="548640"/>
            <a:ext cx="640080" cy="640080"/>
          </a:xfrm>
          <a:prstGeom prst="ellipse">
            <a:avLst/>
          </a:prstGeom>
          <a:solidFill>
            <a:srgbClr val="1E8A6E"/>
          </a:solidFill>
          <a:ln/>
        </p:spPr>
      </p:sp>
      <p:pic>
        <p:nvPicPr>
          <p:cNvPr id="5" name="package icon" descr="packa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2259" y="702259"/>
            <a:ext cx="332842" cy="33284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Three parts: how to work, what to build, why</a:t>
            </a:r>
            <a:endParaRPr lang="en-US" sz="3000" dirty="0"/>
          </a:p>
        </p:txBody>
      </p:sp>
      <p:sp>
        <p:nvSpPr>
          <p:cNvPr id="3" name="The skill card"/>
          <p:cNvSpPr/>
          <p:nvPr/>
        </p:nvSpPr>
        <p:spPr>
          <a:xfrm>
            <a:off x="457200" y="1188720"/>
            <a:ext cx="2560320" cy="329184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/>
        </p:spPr>
      </p:sp>
      <p:sp>
        <p:nvSpPr>
          <p:cNvPr id="4" name="The skill circle"/>
          <p:cNvSpPr/>
          <p:nvPr/>
        </p:nvSpPr>
        <p:spPr>
          <a:xfrm>
            <a:off x="685800" y="1417320"/>
            <a:ext cx="548640" cy="548640"/>
          </a:xfrm>
          <a:prstGeom prst="ellipse">
            <a:avLst/>
          </a:prstGeom>
          <a:solidFill>
            <a:srgbClr val="1E8A6E"/>
          </a:solidFill>
          <a:ln/>
        </p:spPr>
      </p:sp>
      <p:pic>
        <p:nvPicPr>
          <p:cNvPr id="5" name="The skill icon" descr="The skil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7474" y="1548994"/>
            <a:ext cx="285293" cy="28529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" y="21031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skill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5146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.claude/skills/build-&lt;project&gt;/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301752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The loop and its rules: refine, task, check, commit, plus check_scope.py. It holds no decisions.</a:t>
            </a:r>
            <a:endParaRPr lang="en-US" sz="1400" dirty="0"/>
          </a:p>
        </p:txBody>
      </p:sp>
      <p:sp>
        <p:nvSpPr>
          <p:cNvPr id="9" name="The specs card"/>
          <p:cNvSpPr/>
          <p:nvPr/>
        </p:nvSpPr>
        <p:spPr>
          <a:xfrm>
            <a:off x="3291840" y="1188720"/>
            <a:ext cx="2560320" cy="329184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/>
        </p:spPr>
      </p:sp>
      <p:sp>
        <p:nvSpPr>
          <p:cNvPr id="10" name="The specs circle"/>
          <p:cNvSpPr/>
          <p:nvPr/>
        </p:nvSpPr>
        <p:spPr>
          <a:xfrm>
            <a:off x="3520440" y="1417320"/>
            <a:ext cx="548640" cy="548640"/>
          </a:xfrm>
          <a:prstGeom prst="ellipse">
            <a:avLst/>
          </a:prstGeom>
          <a:solidFill>
            <a:srgbClr val="1E8A6E"/>
          </a:solidFill>
          <a:ln/>
        </p:spPr>
      </p:sp>
      <p:pic>
        <p:nvPicPr>
          <p:cNvPr id="11" name="The specs icon" descr="The spec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2114" y="154899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20440" y="21031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specs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3520440" y="25146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.ai/specs/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3520440" y="301752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README.md is the build order. Each NN-&lt;name&gt;.md has tasks with Do, Files, Read, Verify, Blocked by and Status.</a:t>
            </a:r>
            <a:endParaRPr lang="en-US" sz="1400" dirty="0"/>
          </a:p>
        </p:txBody>
      </p:sp>
      <p:sp>
        <p:nvSpPr>
          <p:cNvPr id="15" name="The contracts card"/>
          <p:cNvSpPr/>
          <p:nvPr/>
        </p:nvSpPr>
        <p:spPr>
          <a:xfrm>
            <a:off x="6126480" y="1188720"/>
            <a:ext cx="2560320" cy="329184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/>
        </p:spPr>
      </p:sp>
      <p:sp>
        <p:nvSpPr>
          <p:cNvPr id="16" name="The contracts circle"/>
          <p:cNvSpPr/>
          <p:nvPr/>
        </p:nvSpPr>
        <p:spPr>
          <a:xfrm>
            <a:off x="6355080" y="1417320"/>
            <a:ext cx="548640" cy="548640"/>
          </a:xfrm>
          <a:prstGeom prst="ellipse">
            <a:avLst/>
          </a:prstGeom>
          <a:solidFill>
            <a:srgbClr val="1E8A6E"/>
          </a:solidFill>
          <a:ln/>
        </p:spPr>
      </p:sp>
      <p:pic>
        <p:nvPicPr>
          <p:cNvPr id="17" name="The contracts icon" descr="The contract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6754" y="1548994"/>
            <a:ext cx="285293" cy="285293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355080" y="21031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contracts</a:t>
            </a:r>
            <a:endParaRPr lang="en-US" sz="2000" dirty="0"/>
          </a:p>
        </p:txBody>
      </p:sp>
      <p:sp>
        <p:nvSpPr>
          <p:cNvPr id="19" name="Text 14"/>
          <p:cNvSpPr txBox="1"/>
          <p:nvPr/>
        </p:nvSpPr>
        <p:spPr>
          <a:xfrm>
            <a:off x="6355080" y="25146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.ai/handover/ · .ai/decisions.md</a:t>
            </a:r>
            <a:endParaRPr lang="en-US" sz="1100" dirty="0"/>
          </a:p>
        </p:txBody>
      </p:sp>
      <p:sp>
        <p:nvSpPr>
          <p:cNvPr id="20" name="Text 15"/>
          <p:cNvSpPr txBox="1"/>
          <p:nvPr/>
        </p:nvSpPr>
        <p:spPr>
          <a:xfrm>
            <a:off x="6355080" y="301752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The nine documents and the decision register. A task reads only the sections its Read: names.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Set up once, before the first task</a:t>
            </a:r>
            <a:endParaRPr lang="en-US" sz="3000" dirty="0"/>
          </a:p>
        </p:txBody>
      </p:sp>
      <p:sp>
        <p:nvSpPr>
          <p:cNvPr id="3" name="step 1"/>
          <p:cNvSpPr/>
          <p:nvPr/>
        </p:nvSpPr>
        <p:spPr>
          <a:xfrm>
            <a:off x="457200" y="11887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1170432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Unzip at the repository root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49047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Paths in the specs are paths in the zip: .ai/handover/&lt;doc&gt;.md#section.</a:t>
            </a:r>
            <a:endParaRPr lang="en-US" sz="1400" dirty="0"/>
          </a:p>
        </p:txBody>
      </p:sp>
      <p:sp>
        <p:nvSpPr>
          <p:cNvPr id="7" name="step 2"/>
          <p:cNvSpPr/>
          <p:nvPr/>
        </p:nvSpPr>
        <p:spPr>
          <a:xfrm>
            <a:off x="457200" y="20574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720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2039112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Merge conventions (existing repos)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235915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Existing repos get .ai/AGENTS.md, so yours is untouched. Add @.ai/AGENTS.md to your CLAUDE.md.</a:t>
            </a:r>
            <a:endParaRPr lang="en-US" sz="1400" dirty="0"/>
          </a:p>
        </p:txBody>
      </p:sp>
      <p:sp>
        <p:nvSpPr>
          <p:cNvPr id="11" name="step 3"/>
          <p:cNvSpPr/>
          <p:nvPr/>
        </p:nvSpPr>
        <p:spPr>
          <a:xfrm>
            <a:off x="457200" y="29260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7200" y="2926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2907792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Commit the package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322783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Every task starts from a clean tree, so commit the unzipped files on your default branch first.</a:t>
            </a:r>
            <a:endParaRPr lang="en-US" sz="1400" dirty="0"/>
          </a:p>
        </p:txBody>
      </p:sp>
      <p:sp>
        <p:nvSpPr>
          <p:cNvPr id="15" name="step 4"/>
          <p:cNvSpPr/>
          <p:nvPr/>
        </p:nvSpPr>
        <p:spPr>
          <a:xfrm>
            <a:off x="457200" y="37947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57200" y="3794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3776472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Open .ai/specs/README.md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409651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It lists the specs in build order. A new project starts at 00-foundation.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The loop: one task per fresh session</a:t>
            </a:r>
            <a:endParaRPr lang="en-US" sz="3000" dirty="0"/>
          </a:p>
        </p:txBody>
      </p:sp>
      <p:sp>
        <p:nvSpPr>
          <p:cNvPr id="3" name="refine step"/>
          <p:cNvSpPr/>
          <p:nvPr/>
        </p:nvSpPr>
        <p:spPr>
          <a:xfrm>
            <a:off x="457200" y="1234440"/>
            <a:ext cx="1828800" cy="265176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4" name="refine circle"/>
          <p:cNvSpPr/>
          <p:nvPr/>
        </p:nvSpPr>
        <p:spPr>
          <a:xfrm>
            <a:off x="1097280" y="1463040"/>
            <a:ext cx="548640" cy="548640"/>
          </a:xfrm>
          <a:prstGeom prst="ellipse">
            <a:avLst/>
          </a:prstGeom>
          <a:solidFill>
            <a:srgbClr val="1E8A6E"/>
          </a:solidFill>
          <a:ln/>
        </p:spPr>
      </p:sp>
      <p:pic>
        <p:nvPicPr>
          <p:cNvPr id="5" name="refine icon" descr="refi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8954" y="1594714"/>
            <a:ext cx="285293" cy="28529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94360" y="21488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refine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25603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chemeClr val="accent1"/>
                </a:solidFill>
              </a:rPr>
              <a:t>once per spec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288036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Make Files and Verify real for this repo</a:t>
            </a:r>
            <a:endParaRPr lang="en-US" sz="1400" dirty="0"/>
          </a:p>
        </p:txBody>
      </p:sp>
      <p:sp>
        <p:nvSpPr>
          <p:cNvPr id="9" name="arrow 0"/>
          <p:cNvSpPr/>
          <p:nvPr/>
        </p:nvSpPr>
        <p:spPr>
          <a:xfrm>
            <a:off x="2322576" y="2423160"/>
            <a:ext cx="246888" cy="274320"/>
          </a:xfrm>
          <a:prstGeom prst="rightArrow">
            <a:avLst/>
          </a:prstGeom>
          <a:solidFill>
            <a:schemeClr val="accent5"/>
          </a:solidFill>
          <a:ln/>
        </p:spPr>
      </p:sp>
      <p:sp>
        <p:nvSpPr>
          <p:cNvPr id="10" name="task step"/>
          <p:cNvSpPr/>
          <p:nvPr/>
        </p:nvSpPr>
        <p:spPr>
          <a:xfrm>
            <a:off x="2606040" y="1234440"/>
            <a:ext cx="1828800" cy="265176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11" name="task circle"/>
          <p:cNvSpPr/>
          <p:nvPr/>
        </p:nvSpPr>
        <p:spPr>
          <a:xfrm>
            <a:off x="3246120" y="1463040"/>
            <a:ext cx="548640" cy="548640"/>
          </a:xfrm>
          <a:prstGeom prst="ellipse">
            <a:avLst/>
          </a:prstGeom>
          <a:solidFill>
            <a:srgbClr val="1E8A6E"/>
          </a:solidFill>
          <a:ln/>
        </p:spPr>
      </p:sp>
      <p:pic>
        <p:nvPicPr>
          <p:cNvPr id="12" name="task icon" descr="tas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7794" y="1594714"/>
            <a:ext cx="285293" cy="285293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743200" y="21488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</a:t>
            </a:r>
            <a:endParaRPr lang="en-US" sz="2000" dirty="0"/>
          </a:p>
        </p:txBody>
      </p:sp>
      <p:sp>
        <p:nvSpPr>
          <p:cNvPr id="14" name="Text 10"/>
          <p:cNvSpPr txBox="1"/>
          <p:nvPr/>
        </p:nvSpPr>
        <p:spPr>
          <a:xfrm>
            <a:off x="2743200" y="25603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chemeClr val="accent1"/>
                </a:solidFill>
              </a:rPr>
              <a:t>the agent builds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2743200" y="288036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Clean tree, spec branch, code, Verify</a:t>
            </a:r>
            <a:endParaRPr lang="en-US" sz="1400" dirty="0"/>
          </a:p>
        </p:txBody>
      </p:sp>
      <p:sp>
        <p:nvSpPr>
          <p:cNvPr id="16" name="arrow 1"/>
          <p:cNvSpPr/>
          <p:nvPr/>
        </p:nvSpPr>
        <p:spPr>
          <a:xfrm>
            <a:off x="4471416" y="2423160"/>
            <a:ext cx="246888" cy="274320"/>
          </a:xfrm>
          <a:prstGeom prst="rightArrow">
            <a:avLst/>
          </a:prstGeom>
          <a:solidFill>
            <a:schemeClr val="accent5"/>
          </a:solidFill>
          <a:ln/>
        </p:spPr>
      </p:sp>
      <p:sp>
        <p:nvSpPr>
          <p:cNvPr id="17" name="check step"/>
          <p:cNvSpPr/>
          <p:nvPr/>
        </p:nvSpPr>
        <p:spPr>
          <a:xfrm>
            <a:off x="4754880" y="1234440"/>
            <a:ext cx="1828800" cy="265176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18" name="check circle"/>
          <p:cNvSpPr/>
          <p:nvPr/>
        </p:nvSpPr>
        <p:spPr>
          <a:xfrm>
            <a:off x="5394960" y="1463040"/>
            <a:ext cx="548640" cy="548640"/>
          </a:xfrm>
          <a:prstGeom prst="ellipse">
            <a:avLst/>
          </a:prstGeom>
          <a:solidFill>
            <a:srgbClr val="1E8A6E"/>
          </a:solidFill>
          <a:ln/>
        </p:spPr>
      </p:sp>
      <p:pic>
        <p:nvPicPr>
          <p:cNvPr id="19" name="check icon" descr="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6634" y="1594714"/>
            <a:ext cx="285293" cy="285293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4892040" y="21488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</a:t>
            </a:r>
            <a:endParaRPr lang="en-US" sz="2000" dirty="0"/>
          </a:p>
        </p:txBody>
      </p:sp>
      <p:sp>
        <p:nvSpPr>
          <p:cNvPr id="21" name="Text 16"/>
          <p:cNvSpPr txBox="1"/>
          <p:nvPr/>
        </p:nvSpPr>
        <p:spPr>
          <a:xfrm>
            <a:off x="4892040" y="25603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chemeClr val="accent1"/>
                </a:solidFill>
              </a:rPr>
              <a:t>the agent reviews</a:t>
            </a:r>
            <a:endParaRPr lang="en-US" sz="1200" dirty="0"/>
          </a:p>
        </p:txBody>
      </p:sp>
      <p:sp>
        <p:nvSpPr>
          <p:cNvPr id="22" name="Text 17"/>
          <p:cNvSpPr txBox="1"/>
          <p:nvPr/>
        </p:nvSpPr>
        <p:spPr>
          <a:xfrm>
            <a:off x="4892040" y="288036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Scope, spec and standards passes</a:t>
            </a:r>
            <a:endParaRPr lang="en-US" sz="1400" dirty="0"/>
          </a:p>
        </p:txBody>
      </p:sp>
      <p:sp>
        <p:nvSpPr>
          <p:cNvPr id="23" name="arrow 2"/>
          <p:cNvSpPr/>
          <p:nvPr/>
        </p:nvSpPr>
        <p:spPr>
          <a:xfrm>
            <a:off x="6620256" y="2423160"/>
            <a:ext cx="246888" cy="274320"/>
          </a:xfrm>
          <a:prstGeom prst="rightArrow">
            <a:avLst/>
          </a:prstGeom>
          <a:solidFill>
            <a:schemeClr val="accent5"/>
          </a:solidFill>
          <a:ln/>
        </p:spPr>
      </p:sp>
      <p:sp>
        <p:nvSpPr>
          <p:cNvPr id="24" name="commit step"/>
          <p:cNvSpPr/>
          <p:nvPr/>
        </p:nvSpPr>
        <p:spPr>
          <a:xfrm>
            <a:off x="6903720" y="1234440"/>
            <a:ext cx="1828800" cy="265176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25" name="commit circle"/>
          <p:cNvSpPr/>
          <p:nvPr/>
        </p:nvSpPr>
        <p:spPr>
          <a:xfrm>
            <a:off x="7543800" y="1463040"/>
            <a:ext cx="548640" cy="548640"/>
          </a:xfrm>
          <a:prstGeom prst="ellipse">
            <a:avLst/>
          </a:prstGeom>
          <a:solidFill>
            <a:srgbClr val="1E8A6E"/>
          </a:solidFill>
          <a:ln/>
        </p:spPr>
      </p:sp>
      <p:pic>
        <p:nvPicPr>
          <p:cNvPr id="26" name="commit icon" descr="commi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5474" y="1594714"/>
            <a:ext cx="285293" cy="285293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040880" y="21488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</a:t>
            </a:r>
            <a:endParaRPr lang="en-US" sz="2000" dirty="0"/>
          </a:p>
        </p:txBody>
      </p:sp>
      <p:sp>
        <p:nvSpPr>
          <p:cNvPr id="28" name="Text 22"/>
          <p:cNvSpPr txBox="1"/>
          <p:nvPr/>
        </p:nvSpPr>
        <p:spPr>
          <a:xfrm>
            <a:off x="7040880" y="25603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chemeClr val="accent1"/>
                </a:solidFill>
              </a:rPr>
              <a:t>when you ask</a:t>
            </a:r>
            <a:endParaRPr lang="en-US" sz="1200" dirty="0"/>
          </a:p>
        </p:txBody>
      </p:sp>
      <p:sp>
        <p:nvSpPr>
          <p:cNvPr id="29" name="Text 23"/>
          <p:cNvSpPr txBox="1"/>
          <p:nvPr/>
        </p:nvSpPr>
        <p:spPr>
          <a:xfrm>
            <a:off x="7040880" y="288036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One commit, only the task's files</a:t>
            </a:r>
            <a:endParaRPr lang="en-US" sz="1400" dirty="0"/>
          </a:p>
        </p:txBody>
      </p:sp>
      <p:sp>
        <p:nvSpPr>
          <p:cNvPr id="30" name="Text 24"/>
          <p:cNvSpPr txBox="1"/>
          <p:nvPr/>
        </p:nvSpPr>
        <p:spPr>
          <a:xfrm>
            <a:off x="457200" y="4069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Then close the session. The next task starts with an empty context, so nothing from this one leaks into it.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refine: make the plan fit the real repo</a:t>
            </a:r>
            <a:endParaRPr lang="en-US" sz="3000" dirty="0"/>
          </a:p>
        </p:txBody>
      </p:sp>
      <p:sp>
        <p:nvSpPr>
          <p:cNvPr id="3" name="command"/>
          <p:cNvSpPr/>
          <p:nvPr/>
        </p:nvSpPr>
        <p:spPr>
          <a:xfrm>
            <a:off x="457200" y="1188720"/>
            <a:ext cx="3840480" cy="640080"/>
          </a:xfrm>
          <a:prstGeom prst="roundRect">
            <a:avLst>
              <a:gd name="adj" fmla="val 11429"/>
            </a:avLst>
          </a:prstGeom>
          <a:solidFill>
            <a:schemeClr val="tx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18872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/build-vet-booking refine 01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10312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Specs were written before the code was read, so Files: and Verify: are plans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The agent corrects paths and test commands to the real ones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It never changes Do, the order, or a decision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It shows you the spec's diff, and no task runs until you approve it</a:t>
            </a:r>
            <a:endParaRPr lang="en-US" sz="1500" dirty="0"/>
          </a:p>
        </p:txBody>
      </p:sp>
      <p:sp>
        <p:nvSpPr>
          <p:cNvPr id="6" name="example card"/>
          <p:cNvSpPr/>
          <p:nvPr/>
        </p:nvSpPr>
        <p:spPr>
          <a:xfrm>
            <a:off x="4754880" y="1188720"/>
            <a:ext cx="3931920" cy="329184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983480" y="13258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A task in a spec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983480" y="1691640"/>
            <a:ext cx="3566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### T2: Booking API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**Do:** POST /bookings, …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**Files:** `app/bookings.py`,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`tests/test_bookings.py`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**Read:** api.md#bookings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**Verify:** pytest -q tests/…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**Blocked by:** 01 T1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**Status:** todo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task: git first, then exactly the task</a:t>
            </a:r>
            <a:endParaRPr lang="en-US" sz="3000" dirty="0"/>
          </a:p>
        </p:txBody>
      </p:sp>
      <p:sp>
        <p:nvSpPr>
          <p:cNvPr id="3" name="command"/>
          <p:cNvSpPr/>
          <p:nvPr/>
        </p:nvSpPr>
        <p:spPr>
          <a:xfrm>
            <a:off x="457200" y="1188720"/>
            <a:ext cx="3840480" cy="640080"/>
          </a:xfrm>
          <a:prstGeom prst="roundRect">
            <a:avLst>
              <a:gd name="adj" fmla="val 11429"/>
            </a:avLst>
          </a:prstGeom>
          <a:solidFill>
            <a:schemeClr val="tx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18872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/build-vet-booking task 01 T2</a:t>
            </a:r>
            <a:endParaRPr lang="en-US" sz="1400" dirty="0"/>
          </a:p>
        </p:txBody>
      </p:sp>
      <p:sp>
        <p:nvSpPr>
          <p:cNvPr id="5" name="Clean tree circle"/>
          <p:cNvSpPr/>
          <p:nvPr/>
        </p:nvSpPr>
        <p:spPr>
          <a:xfrm>
            <a:off x="457200" y="2057400"/>
            <a:ext cx="457200" cy="457200"/>
          </a:xfrm>
          <a:prstGeom prst="ellipse">
            <a:avLst/>
          </a:prstGeom>
          <a:solidFill>
            <a:srgbClr val="1E8A6E"/>
          </a:solidFill>
          <a:ln/>
        </p:spPr>
      </p:sp>
      <p:pic>
        <p:nvPicPr>
          <p:cNvPr id="6" name="Clean tree icon" descr="Clean tre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2167128"/>
            <a:ext cx="237744" cy="23774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51560" y="202996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Clean tree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051560" y="230428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If git status shows changes, it stops and names them. It never stashes or discards.</a:t>
            </a:r>
            <a:endParaRPr lang="en-US" sz="1200" dirty="0"/>
          </a:p>
        </p:txBody>
      </p:sp>
      <p:sp>
        <p:nvSpPr>
          <p:cNvPr id="9" name="Spec branch circle"/>
          <p:cNvSpPr/>
          <p:nvPr/>
        </p:nvSpPr>
        <p:spPr>
          <a:xfrm>
            <a:off x="457200" y="2880360"/>
            <a:ext cx="457200" cy="457200"/>
          </a:xfrm>
          <a:prstGeom prst="ellipse">
            <a:avLst/>
          </a:prstGeom>
          <a:solidFill>
            <a:srgbClr val="1E8A6E"/>
          </a:solidFill>
          <a:ln/>
        </p:spPr>
      </p:sp>
      <p:pic>
        <p:nvPicPr>
          <p:cNvPr id="10" name="Spec branch icon" descr="Spec branc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990088"/>
            <a:ext cx="237744" cy="23774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051560" y="285292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Spec branch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1051560" y="312724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It switches to spec/01-booking-core, creating it from your default branch if needed.</a:t>
            </a:r>
            <a:endParaRPr lang="en-US" sz="1200" dirty="0"/>
          </a:p>
        </p:txBody>
      </p:sp>
      <p:sp>
        <p:nvSpPr>
          <p:cNvPr id="13" name="Blockers done circle"/>
          <p:cNvSpPr/>
          <p:nvPr/>
        </p:nvSpPr>
        <p:spPr>
          <a:xfrm>
            <a:off x="457200" y="3703320"/>
            <a:ext cx="457200" cy="457200"/>
          </a:xfrm>
          <a:prstGeom prst="ellipse">
            <a:avLst/>
          </a:prstGeom>
          <a:solidFill>
            <a:srgbClr val="1E8A6E"/>
          </a:solidFill>
          <a:ln/>
        </p:spPr>
      </p:sp>
      <p:pic>
        <p:nvPicPr>
          <p:cNvPr id="14" name="Blockers done icon" descr="Blockers don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3813048"/>
            <a:ext cx="237744" cy="237744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051560" y="367588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Blockers done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1051560" y="395020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Every task in Blocked by: must be done, or it stops and says which.</a:t>
            </a:r>
            <a:endParaRPr lang="en-US" sz="1200" dirty="0"/>
          </a:p>
        </p:txBody>
      </p:sp>
      <p:sp>
        <p:nvSpPr>
          <p:cNvPr id="17" name="then card"/>
          <p:cNvSpPr/>
          <p:nvPr/>
        </p:nvSpPr>
        <p:spPr>
          <a:xfrm>
            <a:off x="4754880" y="1188720"/>
            <a:ext cx="3931920" cy="329184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/>
        </p:spPr>
      </p:sp>
      <p:sp>
        <p:nvSpPr>
          <p:cNvPr id="18" name="Text 13"/>
          <p:cNvSpPr txBox="1"/>
          <p:nvPr/>
        </p:nvSpPr>
        <p:spPr>
          <a:xfrm>
            <a:off x="4983480" y="13258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Then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4983480" y="1691640"/>
            <a:ext cx="3520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Reads only the task and the sections its Read: names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Writes the tests the task names, the failing test first where it can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Runs Verify and fixes until it passes, inside the task's Files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Sets Status: done, &lt;date&gt; and reports. It does not commit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check: three passes on the diff</a:t>
            </a:r>
            <a:endParaRPr lang="en-US" sz="3000" dirty="0"/>
          </a:p>
        </p:txBody>
      </p:sp>
      <p:sp>
        <p:nvSpPr>
          <p:cNvPr id="3" name="command"/>
          <p:cNvSpPr/>
          <p:nvPr/>
        </p:nvSpPr>
        <p:spPr>
          <a:xfrm>
            <a:off x="457200" y="1188720"/>
            <a:ext cx="3840480" cy="640080"/>
          </a:xfrm>
          <a:prstGeom prst="roundRect">
            <a:avLst>
              <a:gd name="adj" fmla="val 11429"/>
            </a:avLst>
          </a:prstGeom>
          <a:solidFill>
            <a:schemeClr val="tx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18872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/build-vet-booking check 01 T2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0574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Scope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645920" y="20574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check_scope.py lists files outside the task's Files and changed manifests. Each needs a reason or a revert.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8803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Spec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288036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Does the diff do what Do says, cite its requirement IDs, and respect Must, Must not and Out of scope?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7033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Standards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645920" y="37033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Does it follow AGENTS.md and the repo's patterns? Is it the simplest thing that works?</a:t>
            </a:r>
            <a:endParaRPr lang="en-US" sz="1200" dirty="0"/>
          </a:p>
        </p:txBody>
      </p:sp>
      <p:sp>
        <p:nvSpPr>
          <p:cNvPr id="11" name="terminal"/>
          <p:cNvSpPr/>
          <p:nvPr/>
        </p:nvSpPr>
        <p:spPr>
          <a:xfrm>
            <a:off x="4754880" y="1188720"/>
            <a:ext cx="3931920" cy="3291840"/>
          </a:xfrm>
          <a:prstGeom prst="roundRect">
            <a:avLst>
              <a:gd name="adj" fmla="val 2222"/>
            </a:avLst>
          </a:prstGeom>
          <a:solidFill>
            <a:schemeClr val="tx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983480" y="13258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check_scope.py output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983480" y="1737360"/>
            <a:ext cx="3566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Changed outside T2's Files: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app/views.py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Dependency manifests changed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outside T2's Files: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pyproject.toml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exit 0 in scope · 1 findings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exit 2 spec or task unreadable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commit: one task, one commit, your call</a:t>
            </a:r>
            <a:endParaRPr lang="en-US" sz="3000" dirty="0"/>
          </a:p>
        </p:txBody>
      </p:sp>
      <p:sp>
        <p:nvSpPr>
          <p:cNvPr id="3" name="command"/>
          <p:cNvSpPr/>
          <p:nvPr/>
        </p:nvSpPr>
        <p:spPr>
          <a:xfrm>
            <a:off x="457200" y="1188720"/>
            <a:ext cx="3840480" cy="640080"/>
          </a:xfrm>
          <a:prstGeom prst="roundRect">
            <a:avLst>
              <a:gd name="adj" fmla="val 11429"/>
            </a:avLst>
          </a:prstGeom>
          <a:solidFill>
            <a:schemeClr val="tx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18872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/build-vet-booking commit 01 T2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10312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Only after you reviewed the check's findings and asked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Stages the task's Files and the spec by name, never git add -A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Anything you did not accept stays unstaged, and it tells you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Never pushes, amends, or skips hooks</a:t>
            </a:r>
            <a:endParaRPr lang="en-US" sz="1500" dirty="0"/>
          </a:p>
        </p:txBody>
      </p:sp>
      <p:sp>
        <p:nvSpPr>
          <p:cNvPr id="6" name="message"/>
          <p:cNvSpPr/>
          <p:nvPr/>
        </p:nvSpPr>
        <p:spPr>
          <a:xfrm>
            <a:off x="4754880" y="1188720"/>
            <a:ext cx="3931920" cy="3291840"/>
          </a:xfrm>
          <a:prstGeom prst="roundRect">
            <a:avLst>
              <a:gd name="adj" fmla="val 2222"/>
            </a:avLst>
          </a:prstGeom>
          <a:solidFill>
            <a:schemeClr val="tx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983480" y="13258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The commit message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983480" y="1737360"/>
            <a:ext cx="3566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01-T2: Booking API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Requirements: FR-3, API-2, TC-7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Verify: pytest -q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tests/test_bookings.py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passed (6)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983480" y="370332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The subject names the ticket; the body traces it to the documents.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 branch per spec, merged by you</a:t>
            </a:r>
            <a:endParaRPr lang="en-US" sz="3000" dirty="0"/>
          </a:p>
        </p:txBody>
      </p:sp>
      <p:sp>
        <p:nvSpPr>
          <p:cNvPr id="3" name="main line"/>
          <p:cNvSpPr/>
          <p:nvPr/>
        </p:nvSpPr>
        <p:spPr>
          <a:xfrm>
            <a:off x="731520" y="1737360"/>
            <a:ext cx="7772400" cy="0"/>
          </a:xfrm>
          <a:prstGeom prst="line">
            <a:avLst/>
          </a:prstGeom>
          <a:noFill/>
          <a:ln w="31750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2801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endParaRPr lang="en-US" sz="1300" dirty="0"/>
          </a:p>
        </p:txBody>
      </p:sp>
      <p:sp>
        <p:nvSpPr>
          <p:cNvPr id="5" name="branch 00 out"/>
          <p:cNvSpPr/>
          <p:nvPr/>
        </p:nvSpPr>
        <p:spPr>
          <a:xfrm>
            <a:off x="1097280" y="1737360"/>
            <a:ext cx="0" cy="109728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</p:spPr>
      </p:sp>
      <p:sp>
        <p:nvSpPr>
          <p:cNvPr id="6" name="branch 00"/>
          <p:cNvSpPr/>
          <p:nvPr/>
        </p:nvSpPr>
        <p:spPr>
          <a:xfrm>
            <a:off x="1097280" y="2834640"/>
            <a:ext cx="2926080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</p:spPr>
      </p:sp>
      <p:sp>
        <p:nvSpPr>
          <p:cNvPr id="7" name="branch 00 merge"/>
          <p:cNvSpPr/>
          <p:nvPr/>
        </p:nvSpPr>
        <p:spPr>
          <a:xfrm>
            <a:off x="4023360" y="1737360"/>
            <a:ext cx="0" cy="109728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234440" y="2971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spec/00-foundation</a:t>
            </a:r>
            <a:endParaRPr lang="en-US" sz="1200" dirty="0"/>
          </a:p>
        </p:txBody>
      </p:sp>
      <p:sp>
        <p:nvSpPr>
          <p:cNvPr id="9" name="commit 00-T1"/>
          <p:cNvSpPr/>
          <p:nvPr/>
        </p:nvSpPr>
        <p:spPr>
          <a:xfrm>
            <a:off x="1719072" y="2724912"/>
            <a:ext cx="219456" cy="21945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417320" y="23317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00-T1</a:t>
            </a:r>
            <a:endParaRPr lang="en-US" sz="1100" dirty="0"/>
          </a:p>
        </p:txBody>
      </p:sp>
      <p:sp>
        <p:nvSpPr>
          <p:cNvPr id="11" name="commit 00-T2"/>
          <p:cNvSpPr/>
          <p:nvPr/>
        </p:nvSpPr>
        <p:spPr>
          <a:xfrm>
            <a:off x="2542032" y="2724912"/>
            <a:ext cx="219456" cy="21945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240280" y="23317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00-T2</a:t>
            </a:r>
            <a:endParaRPr lang="en-US" sz="1100" dirty="0"/>
          </a:p>
        </p:txBody>
      </p:sp>
      <p:sp>
        <p:nvSpPr>
          <p:cNvPr id="13" name="commit 00-T3"/>
          <p:cNvSpPr/>
          <p:nvPr/>
        </p:nvSpPr>
        <p:spPr>
          <a:xfrm>
            <a:off x="3364992" y="2724912"/>
            <a:ext cx="219456" cy="21945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063240" y="23317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00-T3</a:t>
            </a:r>
            <a:endParaRPr lang="en-US" sz="1100" dirty="0"/>
          </a:p>
        </p:txBody>
      </p:sp>
      <p:sp>
        <p:nvSpPr>
          <p:cNvPr id="15" name="branch 01 out"/>
          <p:cNvSpPr/>
          <p:nvPr/>
        </p:nvSpPr>
        <p:spPr>
          <a:xfrm>
            <a:off x="4480560" y="1737360"/>
            <a:ext cx="0" cy="1097280"/>
          </a:xfrm>
          <a:prstGeom prst="line">
            <a:avLst/>
          </a:prstGeom>
          <a:noFill/>
          <a:ln w="31750">
            <a:solidFill>
              <a:schemeClr val="accent3"/>
            </a:solidFill>
            <a:prstDash val="solid"/>
          </a:ln>
        </p:spPr>
      </p:sp>
      <p:sp>
        <p:nvSpPr>
          <p:cNvPr id="16" name="branch 01"/>
          <p:cNvSpPr/>
          <p:nvPr/>
        </p:nvSpPr>
        <p:spPr>
          <a:xfrm>
            <a:off x="4480560" y="2834640"/>
            <a:ext cx="3291840" cy="0"/>
          </a:xfrm>
          <a:prstGeom prst="line">
            <a:avLst/>
          </a:prstGeom>
          <a:noFill/>
          <a:ln w="31750">
            <a:solidFill>
              <a:schemeClr val="accent3"/>
            </a:solidFill>
            <a:prstDash val="solid"/>
          </a:ln>
        </p:spPr>
      </p:sp>
      <p:sp>
        <p:nvSpPr>
          <p:cNvPr id="17" name="branch 01 merge"/>
          <p:cNvSpPr/>
          <p:nvPr/>
        </p:nvSpPr>
        <p:spPr>
          <a:xfrm>
            <a:off x="7772400" y="1737360"/>
            <a:ext cx="0" cy="1097280"/>
          </a:xfrm>
          <a:prstGeom prst="line">
            <a:avLst/>
          </a:prstGeom>
          <a:noFill/>
          <a:ln w="31750">
            <a:solidFill>
              <a:schemeClr val="accent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617720" y="29718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spec/01-booking-core</a:t>
            </a:r>
            <a:endParaRPr lang="en-US" sz="1200" dirty="0"/>
          </a:p>
        </p:txBody>
      </p:sp>
      <p:sp>
        <p:nvSpPr>
          <p:cNvPr id="19" name="commit 01-T1"/>
          <p:cNvSpPr/>
          <p:nvPr/>
        </p:nvSpPr>
        <p:spPr>
          <a:xfrm>
            <a:off x="5193792" y="2724912"/>
            <a:ext cx="219456" cy="219456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92040" y="23317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01-T1</a:t>
            </a:r>
            <a:endParaRPr lang="en-US" sz="1100" dirty="0"/>
          </a:p>
        </p:txBody>
      </p:sp>
      <p:sp>
        <p:nvSpPr>
          <p:cNvPr id="21" name="commit 01-T2"/>
          <p:cNvSpPr/>
          <p:nvPr/>
        </p:nvSpPr>
        <p:spPr>
          <a:xfrm>
            <a:off x="6108192" y="2724912"/>
            <a:ext cx="219456" cy="219456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806440" y="23317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01-T2</a:t>
            </a:r>
            <a:endParaRPr lang="en-US" sz="1100" dirty="0"/>
          </a:p>
        </p:txBody>
      </p:sp>
      <p:sp>
        <p:nvSpPr>
          <p:cNvPr id="23" name="commit 01-T3"/>
          <p:cNvSpPr/>
          <p:nvPr/>
        </p:nvSpPr>
        <p:spPr>
          <a:xfrm>
            <a:off x="7022592" y="2724912"/>
            <a:ext cx="219456" cy="219456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720840" y="23317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01-T3</a:t>
            </a:r>
            <a:endParaRPr lang="en-US" sz="1100" dirty="0"/>
          </a:p>
        </p:txBody>
      </p:sp>
      <p:sp>
        <p:nvSpPr>
          <p:cNvPr id="25" name="merge 00"/>
          <p:cNvSpPr/>
          <p:nvPr/>
        </p:nvSpPr>
        <p:spPr>
          <a:xfrm>
            <a:off x="3886200" y="1600200"/>
            <a:ext cx="274320" cy="274320"/>
          </a:xfrm>
          <a:prstGeom prst="ellipse">
            <a:avLst/>
          </a:prstGeom>
          <a:solidFill>
            <a:schemeClr val="bg1"/>
          </a:solidFill>
          <a:ln w="31750">
            <a:solidFill>
              <a:schemeClr val="tx1"/>
            </a:solidFill>
            <a:prstDash val="solid"/>
          </a:ln>
        </p:spPr>
      </p:sp>
      <p:sp>
        <p:nvSpPr>
          <p:cNvPr id="26" name="merge 01"/>
          <p:cNvSpPr/>
          <p:nvPr/>
        </p:nvSpPr>
        <p:spPr>
          <a:xfrm>
            <a:off x="7635240" y="1600200"/>
            <a:ext cx="274320" cy="274320"/>
          </a:xfrm>
          <a:prstGeom prst="ellipse">
            <a:avLst/>
          </a:prstGeom>
          <a:solidFill>
            <a:schemeClr val="bg1"/>
          </a:solidFill>
          <a:ln w="31750">
            <a:solidFill>
              <a:schemeClr val="tx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017520" y="12344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you merge or open a PR</a:t>
            </a:r>
            <a:endParaRPr lang="en-US" sz="1100" dirty="0"/>
          </a:p>
        </p:txBody>
      </p:sp>
      <p:sp>
        <p:nvSpPr>
          <p:cNvPr id="28" name="rule card"/>
          <p:cNvSpPr/>
          <p:nvPr/>
        </p:nvSpPr>
        <p:spPr>
          <a:xfrm>
            <a:off x="457200" y="3520440"/>
            <a:ext cx="822960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85800" y="365760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Merge a spec's branch before the next spec starts. 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The next branch is cut from your default branch, and its Blocked by: tasks need the earlier work there. Merging and pushing stay with you: the skill never does either.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When the agent stops, it is a feature</a:t>
            </a:r>
            <a:endParaRPr lang="en-US" sz="3000" dirty="0"/>
          </a:p>
        </p:txBody>
      </p:sp>
      <p:sp>
        <p:nvSpPr>
          <p:cNvPr id="3" name="stop circle"/>
          <p:cNvSpPr/>
          <p:nvPr/>
        </p:nvSpPr>
        <p:spPr>
          <a:xfrm>
            <a:off x="457200" y="1234440"/>
            <a:ext cx="822960" cy="822960"/>
          </a:xfrm>
          <a:prstGeom prst="ellipse">
            <a:avLst/>
          </a:prstGeom>
          <a:solidFill>
            <a:srgbClr val="E0962B"/>
          </a:solidFill>
          <a:ln/>
        </p:spPr>
      </p:sp>
      <p:pic>
        <p:nvPicPr>
          <p:cNvPr id="4" name="stop icon" descr="sto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4710" y="1431950"/>
            <a:ext cx="427939" cy="427939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08760" y="12801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The agent stops instead of guessing when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2286000"/>
            <a:ext cx="4023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the code or a document contradicts the spec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 task needs a decision nobody made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 dependency the spec does not name seems needed</a:t>
            </a:r>
            <a:endParaRPr lang="en-US" sz="1500" dirty="0"/>
          </a:p>
        </p:txBody>
      </p:sp>
      <p:sp>
        <p:nvSpPr>
          <p:cNvPr id="7" name="flow card"/>
          <p:cNvSpPr/>
          <p:nvPr/>
        </p:nvSpPr>
        <p:spPr>
          <a:xfrm>
            <a:off x="4754880" y="1188720"/>
            <a:ext cx="3931920" cy="329184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/>
        </p:spPr>
      </p:sp>
      <p:sp>
        <p:nvSpPr>
          <p:cNvPr id="8" name="flow 1"/>
          <p:cNvSpPr/>
          <p:nvPr/>
        </p:nvSpPr>
        <p:spPr>
          <a:xfrm>
            <a:off x="4983480" y="141732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4983480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532120" y="1399032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It writes the question in .ai/questions.md, with the spec and task</a:t>
            </a:r>
            <a:endParaRPr lang="en-US" sz="1300" dirty="0"/>
          </a:p>
        </p:txBody>
      </p:sp>
      <p:sp>
        <p:nvSpPr>
          <p:cNvPr id="11" name="flow 2"/>
          <p:cNvSpPr/>
          <p:nvPr/>
        </p:nvSpPr>
        <p:spPr>
          <a:xfrm>
            <a:off x="4983480" y="214884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983480" y="2148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5532120" y="2130552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In itos: Bring back questions.md, beside the download</a:t>
            </a:r>
            <a:endParaRPr lang="en-US" sz="1300" dirty="0"/>
          </a:p>
        </p:txBody>
      </p:sp>
      <p:sp>
        <p:nvSpPr>
          <p:cNvPr id="14" name="flow 3"/>
          <p:cNvSpPr/>
          <p:nvPr/>
        </p:nvSpPr>
        <p:spPr>
          <a:xfrm>
            <a:off x="4983480" y="288036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4983480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5532120" y="2862072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Each becomes a decision; wizi asks, the owners answer, specs update</a:t>
            </a:r>
            <a:endParaRPr lang="en-US" sz="1300" dirty="0"/>
          </a:p>
        </p:txBody>
      </p:sp>
      <p:sp>
        <p:nvSpPr>
          <p:cNvPr id="17" name="flow 4"/>
          <p:cNvSpPr/>
          <p:nvPr/>
        </p:nvSpPr>
        <p:spPr>
          <a:xfrm>
            <a:off x="4983480" y="361188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4983480" y="3611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5532120" y="3593592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Unzip the new package and run the task again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Claude Code and other coding agents</a:t>
            </a:r>
            <a:endParaRPr lang="en-US" sz="3000" dirty="0"/>
          </a:p>
        </p:txBody>
      </p:sp>
      <p:sp>
        <p:nvSpPr>
          <p:cNvPr id="3" name="claude code"/>
          <p:cNvSpPr/>
          <p:nvPr/>
        </p:nvSpPr>
        <p:spPr>
          <a:xfrm>
            <a:off x="457200" y="1188720"/>
            <a:ext cx="3977640" cy="329184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/>
        </p:spPr>
      </p:sp>
      <p:sp>
        <p:nvSpPr>
          <p:cNvPr id="4" name="claude code circle"/>
          <p:cNvSpPr/>
          <p:nvPr/>
        </p:nvSpPr>
        <p:spPr>
          <a:xfrm>
            <a:off x="685800" y="1417320"/>
            <a:ext cx="548640" cy="548640"/>
          </a:xfrm>
          <a:prstGeom prst="ellipse">
            <a:avLst/>
          </a:prstGeom>
          <a:solidFill>
            <a:srgbClr val="1E8A6E"/>
          </a:solidFill>
          <a:ln/>
        </p:spPr>
      </p:sp>
      <p:pic>
        <p:nvPicPr>
          <p:cNvPr id="5" name="claude code icon" descr="claude cod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7474" y="1548994"/>
            <a:ext cx="285293" cy="28529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14630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Claude Code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14884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Finds the skill in .claude/skills/ and loads CLAUDE.md, which imports AGENTS.md. Use the slash commands directly.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32918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/build-vet-booking task 01 T2</a:t>
            </a:r>
            <a:endParaRPr lang="en-US" sz="1300" dirty="0"/>
          </a:p>
        </p:txBody>
      </p:sp>
      <p:sp>
        <p:nvSpPr>
          <p:cNvPr id="9" name="other agents"/>
          <p:cNvSpPr/>
          <p:nvPr/>
        </p:nvSpPr>
        <p:spPr>
          <a:xfrm>
            <a:off x="4709160" y="1188720"/>
            <a:ext cx="3977640" cy="329184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/>
        </p:spPr>
      </p:sp>
      <p:sp>
        <p:nvSpPr>
          <p:cNvPr id="10" name="other agents circle"/>
          <p:cNvSpPr/>
          <p:nvPr/>
        </p:nvSpPr>
        <p:spPr>
          <a:xfrm>
            <a:off x="4937760" y="1417320"/>
            <a:ext cx="548640" cy="548640"/>
          </a:xfrm>
          <a:prstGeom prst="ellipse">
            <a:avLst/>
          </a:prstGeom>
          <a:solidFill>
            <a:srgbClr val="2E6F8E"/>
          </a:solidFill>
          <a:ln/>
        </p:spPr>
      </p:sp>
      <p:pic>
        <p:nvPicPr>
          <p:cNvPr id="11" name="other agents icon" descr="other agent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9434" y="154899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623560" y="14630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Other agents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4937760" y="214884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Agents that read AGENTS.md get the conventions. Point them at the skill file and name the procedure and task.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4937760" y="329184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 .claude/skills/build-vet-booking/SKILL.md and run task 01 T2.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Cheat sheet</a:t>
            </a:r>
            <a:endParaRPr lang="en-US" sz="3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804672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438912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accent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/build-&lt;project&gt; refine NN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4A5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once per spec: fit Files and Verify to the repo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4A5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2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accent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/build-&lt;project&gt; task NN Tn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4A5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clean tree, spec branch, build, Verify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4A5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2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accent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/build-&lt;project&gt; check NN Tn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4A5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scope, spec and standards passes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4A5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2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accent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/build-&lt;project&gt; commit NN Tn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4A5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NN-Tn: &lt;title&gt;, only when you ask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4A5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2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accent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new session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4A5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for every task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4A5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2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accent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.ai/questions.md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4A5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Bring back questions.md in itos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4A5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itos agent package">
  <a:themeElements>
    <a:clrScheme name="itos agent package">
      <a:dk1>
        <a:srgbClr val="1B2B2A"/>
      </a:dk1>
      <a:lt1>
        <a:srgbClr val="FFFFFF"/>
      </a:lt1>
      <a:dk2>
        <a:srgbClr val="4A5B59"/>
      </a:dk2>
      <a:lt2>
        <a:srgbClr val="EEF4F2"/>
      </a:lt2>
      <a:accent1>
        <a:srgbClr val="1E8A6E"/>
      </a:accent1>
      <a:accent2>
        <a:srgbClr val="E0962B"/>
      </a:accent2>
      <a:accent3>
        <a:srgbClr val="2E6F8E"/>
      </a:accent3>
      <a:accent4>
        <a:srgbClr val="B5523B"/>
      </a:accent4>
      <a:accent5>
        <a:srgbClr val="7FB8A4"/>
      </a:accent5>
      <a:accent6>
        <a:srgbClr val="D9E6E2"/>
      </a:accent6>
      <a:hlink>
        <a:srgbClr val="1E8A6E"/>
      </a:hlink>
      <a:folHlink>
        <a:srgbClr val="4A5B59"/>
      </a:folHlink>
    </a:clrScheme>
    <a:fontScheme name="itos agent packag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Building with the itos agent package</dc:title>
  <dc:subject>PptxGenJS Presentation</dc:subject>
  <dc:creator>itos</dc:creator>
  <cp:lastModifiedBy>itos</cp:lastModifiedBy>
  <cp:revision>1</cp:revision>
  <dcterms:created xsi:type="dcterms:W3CDTF">2026-10-31T06:24:58Z</dcterms:created>
  <dcterms:modified xsi:type="dcterms:W3CDTF">2026-10-31T06:24:58Z</dcterms:modified>
</cp:coreProperties>
</file>